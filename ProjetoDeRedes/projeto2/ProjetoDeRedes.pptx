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246" r:id="rId1"/>
  </p:sldMasterIdLst>
  <p:notesMasterIdLst>
    <p:notesMasterId r:id="rId13"/>
  </p:notesMasterIdLst>
  <p:sldIdLst>
    <p:sldId id="285" r:id="rId2"/>
    <p:sldId id="395" r:id="rId3"/>
    <p:sldId id="396" r:id="rId4"/>
    <p:sldId id="406" r:id="rId5"/>
    <p:sldId id="407" r:id="rId6"/>
    <p:sldId id="397" r:id="rId7"/>
    <p:sldId id="398" r:id="rId8"/>
    <p:sldId id="399" r:id="rId9"/>
    <p:sldId id="400" r:id="rId10"/>
    <p:sldId id="401" r:id="rId11"/>
    <p:sldId id="40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9" autoAdjust="0"/>
  </p:normalViewPr>
  <p:slideViewPr>
    <p:cSldViewPr>
      <p:cViewPr varScale="1">
        <p:scale>
          <a:sx n="85" d="100"/>
          <a:sy n="85" d="100"/>
        </p:scale>
        <p:origin x="11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C5E9C75-C516-47A5-A53D-0E5F5F96B9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C08B97-46BD-4F79-A4F1-192BBA1565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0368FAC2-9FA8-4968-990B-CA70CE46EF5E}" type="datetimeFigureOut">
              <a:rPr lang="pt-BR"/>
              <a:pPr>
                <a:defRPr/>
              </a:pPr>
              <a:t>21/05/2025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71D0C54C-0150-4094-9F80-3E30D460F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C5BB5BA1-EC22-471D-BAE8-46E6261BE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6162F7-BC0D-4BEC-AF89-8A7043199B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849024-4487-42DD-A996-36772F4C4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B438F7-EF7B-4171-B052-E41314525ED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2447CFF6-BB83-4575-9AE4-01E0ED5833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CE35D5C7-5398-4B37-9A52-F562423FD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F2968998-D451-4E86-B0E2-C80FC107B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602B2E-FD7E-41E0-8ED7-BA26EC86F56B}" type="slidenum">
              <a:rPr lang="pt-BR" altLang="pt-BR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27917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8113891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E6A2A9-0270-4B21-8518-3B1970EC5DDF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4963450"/>
      </p:ext>
    </p:extLst>
  </p:cSld>
  <p:clrMapOvr>
    <a:masterClrMapping/>
  </p:clrMapOvr>
  <p:transition spd="med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1859750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696233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5858679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6605196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5446397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5343A-11A8-48F3-AA12-AB0B59119E3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69083179"/>
      </p:ext>
    </p:extLst>
  </p:cSld>
  <p:clrMapOvr>
    <a:masterClrMapping/>
  </p:clrMapOvr>
  <p:transition spd="med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389744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938980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864657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0530394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3215218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184896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4868232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9978574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5353612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1DA7A80-9517-43DD-915F-929BF8D6F38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1016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47" r:id="rId1"/>
    <p:sldLayoutId id="2147485248" r:id="rId2"/>
    <p:sldLayoutId id="2147485249" r:id="rId3"/>
    <p:sldLayoutId id="2147485250" r:id="rId4"/>
    <p:sldLayoutId id="2147485251" r:id="rId5"/>
    <p:sldLayoutId id="2147485252" r:id="rId6"/>
    <p:sldLayoutId id="2147485253" r:id="rId7"/>
    <p:sldLayoutId id="2147485254" r:id="rId8"/>
    <p:sldLayoutId id="2147485255" r:id="rId9"/>
    <p:sldLayoutId id="2147485256" r:id="rId10"/>
    <p:sldLayoutId id="2147485257" r:id="rId11"/>
    <p:sldLayoutId id="2147485258" r:id="rId12"/>
    <p:sldLayoutId id="2147485259" r:id="rId13"/>
    <p:sldLayoutId id="2147485260" r:id="rId14"/>
    <p:sldLayoutId id="2147485261" r:id="rId15"/>
    <p:sldLayoutId id="2147485262" r:id="rId16"/>
    <p:sldLayoutId id="2147485263" r:id="rId17"/>
    <p:sldLayoutId id="2147485264" r:id="rId18"/>
  </p:sldLayoutIdLst>
  <p:transition spd="med">
    <p:dissolve/>
  </p:transition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co.com.br/tutoriais/tutorialqosotm/pagina_3.asp" TargetMode="External"/><Relationship Id="rId2" Type="http://schemas.openxmlformats.org/officeDocument/2006/relationships/hyperlink" Target="https://www.youtube.com/watch?v=oQymzUae0dA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youtube.com/watch?v=DsUZzmOjC6c" TargetMode="External"/><Relationship Id="rId5" Type="http://schemas.openxmlformats.org/officeDocument/2006/relationships/hyperlink" Target="https://www.maxwell.vrac.puc-rio.br/5751/5751_5.PDF" TargetMode="External"/><Relationship Id="rId4" Type="http://schemas.openxmlformats.org/officeDocument/2006/relationships/hyperlink" Target="https://www.fortinet.com/br/resources/cyberglossary/qos-quality-of-serv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1E7B889C-1FDC-49B7-8C15-92D5DBD2A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1" y="2010079"/>
            <a:ext cx="7920037" cy="2031325"/>
          </a:xfrm>
        </p:spPr>
        <p:txBody>
          <a:bodyPr anchor="ctr">
            <a:spAutoFit/>
          </a:bodyPr>
          <a:lstStyle/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pt-BR" altLang="pt-BR" sz="1400" b="1" dirty="0"/>
              <a:t>   </a:t>
            </a:r>
          </a:p>
          <a:p>
            <a:pPr marL="0" lvl="0" indent="0" eaLnBrk="0" hangingPunct="0">
              <a:spcBef>
                <a:spcPct val="0"/>
              </a:spcBef>
              <a:buClrTx/>
              <a:buSzTx/>
              <a:buNone/>
            </a:pPr>
            <a:endParaRPr lang="pt-BR" altLang="pt-BR" sz="400" dirty="0"/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None/>
            </a:pPr>
            <a:r>
              <a:rPr lang="pt-BR" altLang="pt-BR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SERVIÇOS INTREGADO</a:t>
            </a: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(INTSERV)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pt-BR" altLang="pt-BR" sz="1400" b="1" dirty="0"/>
              <a:t>                                                                            </a:t>
            </a:r>
            <a:endParaRPr lang="pt-BR" alt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endParaRPr lang="pt-BR" alt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40067F7-CE6E-7E0D-DA48-1729C08F7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2992" y="299570"/>
            <a:ext cx="6678015" cy="1354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5EEBB2-5C0C-D13D-5497-2F36324B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806" y="3905733"/>
            <a:ext cx="514994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latin typeface="Arial" panose="020B0604020202020204" pitchFamily="34" charset="0"/>
              </a:rPr>
              <a:t>Projeto de Redes de Computadores</a:t>
            </a:r>
          </a:p>
          <a:p>
            <a:pPr algn="ctr"/>
            <a:r>
              <a:rPr lang="pt-BR" sz="1600" dirty="0">
                <a:latin typeface="Arial" panose="020B0604020202020204" pitchFamily="34" charset="0"/>
              </a:rPr>
              <a:t>Prof. Alexandre </a:t>
            </a:r>
            <a:r>
              <a:rPr lang="pt-BR" sz="1600" dirty="0" err="1">
                <a:latin typeface="Arial" panose="020B0604020202020204" pitchFamily="34" charset="0"/>
              </a:rPr>
              <a:t>Marchiori</a:t>
            </a:r>
            <a:r>
              <a:rPr lang="pt-BR" sz="1600" dirty="0">
                <a:latin typeface="Arial" panose="020B0604020202020204" pitchFamily="34" charset="0"/>
              </a:rPr>
              <a:t> Almeida</a:t>
            </a:r>
          </a:p>
          <a:p>
            <a:pPr algn="ctr"/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5º Semestre ADS – Manhã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</a:t>
            </a:r>
            <a:endParaRPr kumimoji="0" lang="pt-BR" altLang="pt-B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400" dirty="0">
                <a:latin typeface="Arial" panose="020B0604020202020204" pitchFamily="34" charset="0"/>
              </a:rPr>
              <a:t>Rafael Henrique Andrade </a:t>
            </a:r>
            <a:r>
              <a:rPr lang="pt-BR" sz="1400" dirty="0" err="1">
                <a:latin typeface="Arial" panose="020B0604020202020204" pitchFamily="34" charset="0"/>
              </a:rPr>
              <a:t>Caratenuto</a:t>
            </a:r>
            <a:endParaRPr lang="pt-BR" sz="1400" dirty="0">
              <a:latin typeface="Arial" panose="020B0604020202020204" pitchFamily="34" charset="0"/>
            </a:endParaRPr>
          </a:p>
          <a:p>
            <a:pPr algn="ctr"/>
            <a:r>
              <a:rPr lang="pt-BR" sz="1400" dirty="0">
                <a:latin typeface="Arial" panose="020B0604020202020204" pitchFamily="34" charset="0"/>
              </a:rPr>
              <a:t>Jose Mario </a:t>
            </a:r>
            <a:r>
              <a:rPr lang="pt-BR" sz="1400" dirty="0" err="1">
                <a:latin typeface="Arial" panose="020B0604020202020204" pitchFamily="34" charset="0"/>
              </a:rPr>
              <a:t>Yanaguissawa</a:t>
            </a:r>
            <a:endParaRPr lang="pt-BR" sz="1400" dirty="0">
              <a:latin typeface="Arial" panose="020B0604020202020204" pitchFamily="34" charset="0"/>
            </a:endParaRPr>
          </a:p>
          <a:p>
            <a:pPr algn="ctr"/>
            <a:r>
              <a:rPr lang="pt-BR" sz="1400" dirty="0">
                <a:latin typeface="Arial" panose="020B0604020202020204" pitchFamily="34" charset="0"/>
              </a:rPr>
              <a:t>Guilherme Nascimento Ramos</a:t>
            </a:r>
          </a:p>
          <a:p>
            <a:pPr algn="ctr"/>
            <a:r>
              <a:rPr lang="pt-BR" sz="1400" dirty="0">
                <a:latin typeface="Arial" panose="020B0604020202020204" pitchFamily="34" charset="0"/>
              </a:rPr>
              <a:t>Felipe de Jesus dos Reis</a:t>
            </a:r>
          </a:p>
          <a:p>
            <a:pPr algn="ctr"/>
            <a:r>
              <a:rPr lang="pt-BR" sz="1400" dirty="0">
                <a:latin typeface="Arial" panose="020B0604020202020204" pitchFamily="34" charset="0"/>
              </a:rPr>
              <a:t>Francis </a:t>
            </a:r>
            <a:r>
              <a:rPr lang="pt-BR" sz="1400" dirty="0" err="1">
                <a:latin typeface="Arial" panose="020B0604020202020204" pitchFamily="34" charset="0"/>
              </a:rPr>
              <a:t>Leicam</a:t>
            </a:r>
            <a:r>
              <a:rPr lang="pt-BR" sz="1400" dirty="0">
                <a:latin typeface="Arial" panose="020B0604020202020204" pitchFamily="34" charset="0"/>
              </a:rPr>
              <a:t> Carvalho Luz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10350ADC-2D1F-A98F-E4F1-757BB48CF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850" y="9523095"/>
            <a:ext cx="7048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7CE58-E978-3F4E-E0DF-1E0937098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030" y="6211669"/>
            <a:ext cx="8435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São Paulo </a:t>
            </a: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53FA7-30E7-471F-805F-51DBEAE8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11651"/>
            <a:ext cx="7773338" cy="1596177"/>
          </a:xfrm>
        </p:spPr>
        <p:txBody>
          <a:bodyPr/>
          <a:lstStyle/>
          <a:p>
            <a:r>
              <a:rPr lang="pt-BR" dirty="0"/>
              <a:t>DEFINIÇÃO E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724D3-6181-4A90-9D0C-B6EB1CFB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2076637"/>
      </p:ext>
    </p:extLst>
  </p:cSld>
  <p:clrMapOvr>
    <a:masterClrMapping/>
  </p:clrMapOvr>
  <p:transition spd="med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81FF6-CCAD-43A5-ADF9-B74A10B3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87" y="0"/>
            <a:ext cx="7773338" cy="1596177"/>
          </a:xfrm>
        </p:spPr>
        <p:txBody>
          <a:bodyPr/>
          <a:lstStyle/>
          <a:p>
            <a:r>
              <a:rPr lang="pt-BR" dirty="0"/>
              <a:t>PROTOCOLOS associados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397E79-69FF-4563-B4BC-7C7CFAA7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0" y="1412776"/>
            <a:ext cx="7773339" cy="5073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aqueles</a:t>
            </a:r>
            <a:r>
              <a:rPr lang="en-US" sz="2400" dirty="0"/>
              <a:t> que </a:t>
            </a:r>
            <a:r>
              <a:rPr lang="en-US" sz="2400" dirty="0" err="1"/>
              <a:t>trabalham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conjunto com </a:t>
            </a:r>
            <a:r>
              <a:rPr lang="en-US" sz="2400" dirty="0" err="1"/>
              <a:t>arquitetura</a:t>
            </a:r>
            <a:r>
              <a:rPr lang="en-US" sz="2400" b="1" dirty="0"/>
              <a:t> </a:t>
            </a:r>
            <a:r>
              <a:rPr lang="en-US" sz="2400" b="1" dirty="0" err="1"/>
              <a:t>IntServ</a:t>
            </a:r>
            <a:r>
              <a:rPr lang="en-US" sz="2400" b="1" dirty="0"/>
              <a:t> (</a:t>
            </a:r>
            <a:r>
              <a:rPr lang="en-US" sz="2400" b="1" dirty="0" err="1"/>
              <a:t>Serviços</a:t>
            </a:r>
            <a:r>
              <a:rPr lang="en-US" sz="2400" b="1" dirty="0"/>
              <a:t> </a:t>
            </a:r>
            <a:r>
              <a:rPr lang="en-US" sz="2400" b="1" dirty="0" err="1"/>
              <a:t>Integrados</a:t>
            </a:r>
            <a:r>
              <a:rPr lang="en-US" sz="2400" b="1" dirty="0"/>
              <a:t>) para </a:t>
            </a:r>
            <a:r>
              <a:rPr lang="en-US" sz="2400" b="1" dirty="0" err="1"/>
              <a:t>garantir</a:t>
            </a:r>
            <a:r>
              <a:rPr lang="en-US" sz="2400" b="1" dirty="0"/>
              <a:t> a </a:t>
            </a:r>
            <a:r>
              <a:rPr lang="en-US" sz="2400" b="1" dirty="0" err="1"/>
              <a:t>Qualidade</a:t>
            </a:r>
            <a:r>
              <a:rPr lang="en-US" sz="2400" b="1" dirty="0"/>
              <a:t> de </a:t>
            </a:r>
            <a:r>
              <a:rPr lang="en-US" sz="2400" b="1" dirty="0" err="1"/>
              <a:t>Serviço</a:t>
            </a:r>
            <a:r>
              <a:rPr lang="en-US" sz="2400" b="1" dirty="0"/>
              <a:t> (QoS)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redes IP. </a:t>
            </a:r>
            <a:r>
              <a:rPr lang="en-US" sz="2400" dirty="0" err="1"/>
              <a:t>Esses</a:t>
            </a:r>
            <a:r>
              <a:rPr lang="en-US" sz="2400" dirty="0"/>
              <a:t> </a:t>
            </a:r>
            <a:r>
              <a:rPr lang="en-US" sz="2400" dirty="0" err="1"/>
              <a:t>protocolos</a:t>
            </a:r>
            <a:r>
              <a:rPr lang="en-US" sz="2400" dirty="0"/>
              <a:t> </a:t>
            </a:r>
            <a:r>
              <a:rPr lang="en-US" sz="2400" dirty="0" err="1"/>
              <a:t>viabilizam</a:t>
            </a:r>
            <a:r>
              <a:rPr lang="en-US" sz="2400" dirty="0"/>
              <a:t> a </a:t>
            </a:r>
            <a:r>
              <a:rPr lang="en-US" sz="2400" dirty="0" err="1"/>
              <a:t>reserva</a:t>
            </a:r>
            <a:r>
              <a:rPr lang="en-US" sz="2400" dirty="0"/>
              <a:t>, o </a:t>
            </a:r>
            <a:r>
              <a:rPr lang="en-US" sz="2400" dirty="0" err="1"/>
              <a:t>controle</a:t>
            </a:r>
            <a:r>
              <a:rPr lang="en-US" sz="2400" dirty="0"/>
              <a:t> e o </a:t>
            </a:r>
            <a:r>
              <a:rPr lang="en-US" sz="2400" dirty="0" err="1"/>
              <a:t>gerenciamento</a:t>
            </a:r>
            <a:r>
              <a:rPr lang="en-US" sz="2400" dirty="0"/>
              <a:t> dos </a:t>
            </a:r>
            <a:r>
              <a:rPr lang="en-US" sz="2400" dirty="0" err="1"/>
              <a:t>recursos</a:t>
            </a:r>
            <a:r>
              <a:rPr lang="en-US" sz="2400" dirty="0"/>
              <a:t> </a:t>
            </a:r>
            <a:r>
              <a:rPr lang="en-US" sz="2400" dirty="0" err="1"/>
              <a:t>necessários</a:t>
            </a:r>
            <a:r>
              <a:rPr lang="en-US" sz="2400" dirty="0"/>
              <a:t> para </a:t>
            </a:r>
            <a:r>
              <a:rPr lang="en-US" sz="2400" dirty="0" err="1"/>
              <a:t>fluxos</a:t>
            </a:r>
            <a:r>
              <a:rPr lang="en-US" sz="2400" dirty="0"/>
              <a:t> de dados com </a:t>
            </a:r>
            <a:r>
              <a:rPr lang="en-US" sz="2400" dirty="0" err="1"/>
              <a:t>requisitos</a:t>
            </a:r>
            <a:r>
              <a:rPr lang="en-US" sz="2400" dirty="0"/>
              <a:t> </a:t>
            </a:r>
            <a:r>
              <a:rPr lang="en-US" sz="2400" dirty="0" err="1"/>
              <a:t>específicos</a:t>
            </a:r>
            <a:r>
              <a:rPr lang="en-US" sz="2400" dirty="0"/>
              <a:t> —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chamadas</a:t>
            </a:r>
            <a:r>
              <a:rPr lang="en-US" sz="2400" dirty="0"/>
              <a:t> de </a:t>
            </a:r>
            <a:r>
              <a:rPr lang="en-US" sz="2400" dirty="0" err="1"/>
              <a:t>vídeo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voz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tempo real (</a:t>
            </a:r>
            <a:r>
              <a:rPr lang="en-US" sz="2400" dirty="0" err="1"/>
              <a:t>Voip</a:t>
            </a:r>
            <a:r>
              <a:rPr lang="en-US" sz="2400" dirty="0"/>
              <a:t>). </a:t>
            </a:r>
          </a:p>
          <a:p>
            <a:pPr marL="0" indent="0">
              <a:buNone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12978360"/>
      </p:ext>
    </p:extLst>
  </p:cSld>
  <p:clrMapOvr>
    <a:masterClrMapping/>
  </p:clrMapOvr>
  <p:transition spd="med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81FF6-CCAD-43A5-ADF9-B74A10B3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48" y="30401"/>
            <a:ext cx="7773338" cy="1596177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PROTOCOLOS 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BBAE5864-C4FC-4F37-BD4F-2E2BCA521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594809"/>
              </p:ext>
            </p:extLst>
          </p:nvPr>
        </p:nvGraphicFramePr>
        <p:xfrm>
          <a:off x="467544" y="1626578"/>
          <a:ext cx="8136904" cy="4322703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4068452">
                  <a:extLst>
                    <a:ext uri="{9D8B030D-6E8A-4147-A177-3AD203B41FA5}">
                      <a16:colId xmlns:a16="http://schemas.microsoft.com/office/drawing/2014/main" val="1416085041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1029603688"/>
                    </a:ext>
                  </a:extLst>
                </a:gridCol>
              </a:tblGrid>
              <a:tr h="535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Protocolo</a:t>
                      </a:r>
                      <a:endParaRPr lang="pt-BR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Função Principal</a:t>
                      </a:r>
                      <a:endParaRPr lang="pt-BR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extLst>
                  <a:ext uri="{0D108BD9-81ED-4DB2-BD59-A6C34878D82A}">
                    <a16:rowId xmlns:a16="http://schemas.microsoft.com/office/drawing/2014/main" val="1309541696"/>
                  </a:ext>
                </a:extLst>
              </a:tr>
              <a:tr h="8560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RSVP 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Reservation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Protocol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Reserva de recursos fim a fim na rede</a:t>
                      </a:r>
                      <a:endParaRPr lang="pt-BR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extLst>
                  <a:ext uri="{0D108BD9-81ED-4DB2-BD59-A6C34878D82A}">
                    <a16:rowId xmlns:a16="http://schemas.microsoft.com/office/drawing/2014/main" val="1659161511"/>
                  </a:ext>
                </a:extLst>
              </a:tr>
              <a:tr h="7913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IP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Transporte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dos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pacotes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com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marcação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de QoS</a:t>
                      </a:r>
                      <a:endParaRPr lang="pt-BR" sz="4400" dirty="0">
                        <a:solidFill>
                          <a:schemeClr val="tx1"/>
                        </a:solidFill>
                      </a:endParaRPr>
                    </a:p>
                  </a:txBody>
                  <a:tcPr marL="63057" marR="63057" marT="0" marB="0"/>
                </a:tc>
                <a:extLst>
                  <a:ext uri="{0D108BD9-81ED-4DB2-BD59-A6C34878D82A}">
                    <a16:rowId xmlns:a16="http://schemas.microsoft.com/office/drawing/2014/main" val="2760899161"/>
                  </a:ext>
                </a:extLst>
              </a:tr>
              <a:tr h="12841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TCP/UDP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Transporte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das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aplicações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que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exigem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QoS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extLst>
                  <a:ext uri="{0D108BD9-81ED-4DB2-BD59-A6C34878D82A}">
                    <a16:rowId xmlns:a16="http://schemas.microsoft.com/office/drawing/2014/main" val="3617099376"/>
                  </a:ext>
                </a:extLst>
              </a:tr>
              <a:tr h="8560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PIM (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Protocolo de Encaminhamento </a:t>
                      </a:r>
                      <a:r>
                        <a:rPr lang="pt-BR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Multicast</a:t>
                      </a:r>
                      <a:r>
                        <a:rPr lang="pt-B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Encaminhamento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de dados multicast</a:t>
                      </a:r>
                      <a:endParaRPr lang="pt-BR" sz="3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057" marR="63057" marT="0" marB="0"/>
                </a:tc>
                <a:extLst>
                  <a:ext uri="{0D108BD9-81ED-4DB2-BD59-A6C34878D82A}">
                    <a16:rowId xmlns:a16="http://schemas.microsoft.com/office/drawing/2014/main" val="952954978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EB7E8145-72FC-4A7F-A83E-2268A0753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19343" y="2932500"/>
            <a:ext cx="2900370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576270"/>
      </p:ext>
    </p:extLst>
  </p:cSld>
  <p:clrMapOvr>
    <a:masterClrMapping/>
  </p:clrMapOvr>
  <p:transition spd="med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81FF6-CCAD-43A5-ADF9-B74A10B3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23" y="23432"/>
            <a:ext cx="7773338" cy="1596177"/>
          </a:xfrm>
        </p:spPr>
        <p:txBody>
          <a:bodyPr/>
          <a:lstStyle/>
          <a:p>
            <a:r>
              <a:rPr lang="pt-BR" dirty="0"/>
              <a:t>PROTOCOLOS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397E79-69FF-4563-B4BC-7C7CFAA7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484784"/>
            <a:ext cx="7773339" cy="4178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figura 1. Princípio de funcionamento do processo de reserva RVSP  (Fim=&gt;Fim)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5BFFFB-0739-468C-BB64-E5335E0414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95" y="2636912"/>
            <a:ext cx="7272808" cy="335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6581"/>
      </p:ext>
    </p:extLst>
  </p:cSld>
  <p:clrMapOvr>
    <a:masterClrMapping/>
  </p:clrMapOvr>
  <p:transition spd="med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6ADB9-67EB-4397-8D03-4CCECBDB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cap="none" dirty="0" err="1"/>
              <a:t>QoS</a:t>
            </a:r>
            <a:endParaRPr lang="pt-BR" cap="none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521EAF-8601-485A-A091-327CF9F2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711286"/>
      </p:ext>
    </p:extLst>
  </p:cSld>
  <p:clrMapOvr>
    <a:masterClrMapping/>
  </p:clrMapOvr>
  <p:transition spd="med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F0ED5-8E2A-4526-A07B-37FFB5DB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 dirty="0"/>
              <a:t>aplicações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9481628-8CC2-49E9-9C61-8CB5FEB27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54" y="2639693"/>
            <a:ext cx="449182" cy="336453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79F810E-FDF7-49F2-960E-A959F7E9E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68" y="2445315"/>
            <a:ext cx="671035" cy="67103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FC4C5EC-A886-4FFD-8DAE-70CA79DB8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54" y="2639693"/>
            <a:ext cx="336453" cy="3364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8B43713-0C76-471D-8150-6DA10B3D2B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68" y="3741651"/>
            <a:ext cx="671035" cy="67103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9373AD-064E-4F5A-AC68-BE7667B9C2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33" y="4881031"/>
            <a:ext cx="816903" cy="816903"/>
          </a:xfrm>
          <a:prstGeom prst="rect">
            <a:avLst/>
          </a:prstGeom>
        </p:spPr>
      </p:pic>
      <p:pic>
        <p:nvPicPr>
          <p:cNvPr id="15" name="Espaço Reservado para Conteúdo 5">
            <a:extLst>
              <a:ext uri="{FF2B5EF4-FFF2-40B4-BE49-F238E27FC236}">
                <a16:creationId xmlns:a16="http://schemas.microsoft.com/office/drawing/2014/main" id="{C65F62EF-AEE2-4A52-B091-BDB86FDF3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54" y="3881854"/>
            <a:ext cx="449182" cy="33645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C14C5DF-62E9-474E-91B5-F4AEEE6EE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53" y="3881855"/>
            <a:ext cx="336453" cy="336453"/>
          </a:xfrm>
          <a:prstGeom prst="rect">
            <a:avLst/>
          </a:prstGeom>
        </p:spPr>
      </p:pic>
      <p:pic>
        <p:nvPicPr>
          <p:cNvPr id="17" name="Espaço Reservado para Conteúdo 5">
            <a:extLst>
              <a:ext uri="{FF2B5EF4-FFF2-40B4-BE49-F238E27FC236}">
                <a16:creationId xmlns:a16="http://schemas.microsoft.com/office/drawing/2014/main" id="{588645B2-BE4F-4BDC-BA05-E3C7DF3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54" y="5121255"/>
            <a:ext cx="449182" cy="33645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4A3510B-3C26-4C94-9969-E27E17FF6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52" y="5121255"/>
            <a:ext cx="336453" cy="336453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55432D1-D546-488A-A9A0-2ED07D6BF304}"/>
              </a:ext>
            </a:extLst>
          </p:cNvPr>
          <p:cNvSpPr/>
          <p:nvPr/>
        </p:nvSpPr>
        <p:spPr>
          <a:xfrm>
            <a:off x="3437987" y="2445315"/>
            <a:ext cx="5123745" cy="3252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063835"/>
      </p:ext>
    </p:extLst>
  </p:cSld>
  <p:clrMapOvr>
    <a:masterClrMapping/>
  </p:clrMapOvr>
  <p:transition spd="med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AD330-F0E4-408A-87BC-600653A7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55" y="8918"/>
            <a:ext cx="7773338" cy="1596177"/>
          </a:xfrm>
        </p:spPr>
        <p:txBody>
          <a:bodyPr/>
          <a:lstStyle/>
          <a:p>
            <a:r>
              <a:rPr lang="pt-BR" sz="4000" dirty="0"/>
              <a:t>vantagens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457840-6181-4C4F-AA0A-60F92189B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1" y="1268760"/>
            <a:ext cx="7773339" cy="51125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1600" dirty="0"/>
              <a:t>O </a:t>
            </a:r>
            <a:r>
              <a:rPr lang="pt-BR" sz="1600" dirty="0" err="1"/>
              <a:t>IntServ</a:t>
            </a:r>
            <a:r>
              <a:rPr lang="pt-BR" sz="1600" dirty="0"/>
              <a:t> oferece uma abordagem detalhada para garantir </a:t>
            </a:r>
            <a:r>
              <a:rPr lang="pt-BR" sz="1600" dirty="0" err="1"/>
              <a:t>QoS</a:t>
            </a:r>
            <a:r>
              <a:rPr lang="pt-BR" sz="1600" dirty="0"/>
              <a:t> na rede, principalmente em aplicações sensíveis a atrasos.</a:t>
            </a:r>
          </a:p>
          <a:p>
            <a:pPr lvl="0"/>
            <a:r>
              <a:rPr lang="pt-BR" sz="1600" b="1" dirty="0"/>
              <a:t>Qualidade Garantida (</a:t>
            </a:r>
            <a:r>
              <a:rPr lang="pt-BR" sz="1600" b="1" dirty="0" err="1"/>
              <a:t>QoS</a:t>
            </a:r>
            <a:r>
              <a:rPr lang="pt-BR" sz="1600" b="1" dirty="0"/>
              <a:t>)</a:t>
            </a:r>
            <a:br>
              <a:rPr lang="pt-BR" sz="1600" dirty="0"/>
            </a:br>
            <a:r>
              <a:rPr lang="pt-BR" sz="1600" dirty="0"/>
              <a:t>O </a:t>
            </a:r>
            <a:r>
              <a:rPr lang="pt-BR" sz="1600" dirty="0" err="1"/>
              <a:t>IntServ</a:t>
            </a:r>
            <a:r>
              <a:rPr lang="pt-BR" sz="1600" dirty="0"/>
              <a:t> reserva antecipadamente os recursos necessários para cada fluxo de dados, como largura de banda e tempo de resposta, garantindo que a aplicação funcione de forma estável.</a:t>
            </a:r>
          </a:p>
          <a:p>
            <a:pPr lvl="0"/>
            <a:r>
              <a:rPr lang="pt-BR" sz="1600" b="1" dirty="0"/>
              <a:t>Controle Fino por Fluxo</a:t>
            </a:r>
            <a:br>
              <a:rPr lang="pt-BR" sz="1600" dirty="0"/>
            </a:br>
            <a:r>
              <a:rPr lang="pt-BR" sz="1600" dirty="0"/>
              <a:t>Cada conexão é analisada e tratada separadamente. Isso permite aplicar configurações específicas para cada tipo de tráfego.</a:t>
            </a:r>
          </a:p>
          <a:p>
            <a:pPr lvl="1"/>
            <a:r>
              <a:rPr lang="pt-BR" sz="1400" b="1" dirty="0"/>
              <a:t>Priorização Personalizada</a:t>
            </a:r>
            <a:br>
              <a:rPr lang="pt-BR" sz="1400" dirty="0"/>
            </a:br>
            <a:r>
              <a:rPr lang="pt-BR" sz="1400" dirty="0"/>
              <a:t>É possível definir diferentes prioridades para diferentes aplicações, conforme sua importância.</a:t>
            </a:r>
          </a:p>
          <a:p>
            <a:pPr lvl="1"/>
            <a:r>
              <a:rPr lang="pt-BR" sz="1400" b="1" dirty="0"/>
              <a:t>Previsibilidade</a:t>
            </a:r>
            <a:br>
              <a:rPr lang="pt-BR" sz="1400" dirty="0"/>
            </a:br>
            <a:r>
              <a:rPr lang="pt-BR" sz="1400" dirty="0"/>
              <a:t>Como os recursos são reservados antes da transmissão, o desempenho da rede se torna previsível e confiável.</a:t>
            </a:r>
          </a:p>
          <a:p>
            <a:r>
              <a:rPr lang="pt-BR" sz="1600" b="1" dirty="0"/>
              <a:t>Baixa Latência Garantida</a:t>
            </a:r>
            <a:br>
              <a:rPr lang="pt-BR" sz="1600" dirty="0"/>
            </a:br>
            <a:r>
              <a:rPr lang="pt-BR" sz="1600" dirty="0"/>
              <a:t>O </a:t>
            </a:r>
            <a:r>
              <a:rPr lang="pt-BR" sz="1600" dirty="0" err="1"/>
              <a:t>IntServ</a:t>
            </a:r>
            <a:r>
              <a:rPr lang="pt-BR" sz="1600" dirty="0"/>
              <a:t> é ideal para aplicações que exigem resposta rápida, como transmissões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2387064319"/>
      </p:ext>
    </p:extLst>
  </p:cSld>
  <p:clrMapOvr>
    <a:masterClrMapping/>
  </p:clrMapOvr>
  <p:transition spd="med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129E7-4E1C-4735-BA61-0552EC40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5" y="22377"/>
            <a:ext cx="7773338" cy="1596177"/>
          </a:xfrm>
        </p:spPr>
        <p:txBody>
          <a:bodyPr>
            <a:normAutofit/>
          </a:bodyPr>
          <a:lstStyle/>
          <a:p>
            <a:r>
              <a:rPr lang="pt-BR" sz="4000" dirty="0"/>
              <a:t>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128CE-FD94-4391-B77D-A00385A8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1" y="1412776"/>
            <a:ext cx="7773339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/>
              <a:t>Apesar das vantagens, o </a:t>
            </a:r>
            <a:r>
              <a:rPr lang="pt-BR" sz="1500" dirty="0" err="1"/>
              <a:t>IntServ</a:t>
            </a:r>
            <a:r>
              <a:rPr lang="pt-BR" sz="1500" dirty="0"/>
              <a:t> apresenta limitações importantes, especialmente quando aplicado em redes de grande escala. </a:t>
            </a:r>
          </a:p>
          <a:p>
            <a:pPr lvl="0"/>
            <a:r>
              <a:rPr lang="pt-BR" sz="1500" b="1" dirty="0"/>
              <a:t>Baixa Escalabilidade</a:t>
            </a:r>
            <a:br>
              <a:rPr lang="pt-BR" sz="1500" dirty="0"/>
            </a:br>
            <a:r>
              <a:rPr lang="pt-BR" sz="1500" dirty="0"/>
              <a:t>Cada fluxo precisa ser monitorado individualmente, o que se torna inviável em redes com milhares ou milhões de conexões simultâneas.</a:t>
            </a:r>
          </a:p>
          <a:p>
            <a:pPr lvl="0"/>
            <a:r>
              <a:rPr lang="pt-BR" sz="1500" b="1" dirty="0"/>
              <a:t>Uso Intensivo de Recursos</a:t>
            </a:r>
            <a:br>
              <a:rPr lang="pt-BR" sz="1500" dirty="0"/>
            </a:br>
            <a:r>
              <a:rPr lang="pt-BR" sz="1500" dirty="0"/>
              <a:t>O modelo exige que os roteadores mantenham informações detalhadas de cada conexão ativa, aumentando a carga sobre o equipamento.</a:t>
            </a:r>
          </a:p>
          <a:p>
            <a:pPr lvl="0"/>
            <a:r>
              <a:rPr lang="pt-BR" sz="1500" b="1" dirty="0"/>
              <a:t>Complexidade de Gerenciamento</a:t>
            </a:r>
            <a:br>
              <a:rPr lang="pt-BR" sz="1500" dirty="0"/>
            </a:br>
            <a:r>
              <a:rPr lang="pt-BR" sz="1500" dirty="0"/>
              <a:t>Implementar e manter o </a:t>
            </a:r>
            <a:r>
              <a:rPr lang="pt-BR" sz="1500" dirty="0" err="1"/>
              <a:t>IntServ</a:t>
            </a:r>
            <a:r>
              <a:rPr lang="pt-BR" sz="1500" dirty="0"/>
              <a:t> é tecnicamente complexo, exigindo profissionais qualificados e equipamentos avançados.</a:t>
            </a:r>
          </a:p>
          <a:p>
            <a:pPr lvl="1"/>
            <a:r>
              <a:rPr lang="pt-BR" sz="1300" b="1" dirty="0"/>
              <a:t>Dependência do Protocolo RSVP</a:t>
            </a:r>
            <a:br>
              <a:rPr lang="pt-BR" sz="1300" dirty="0"/>
            </a:br>
            <a:r>
              <a:rPr lang="pt-BR" sz="1300" dirty="0"/>
              <a:t>O </a:t>
            </a:r>
            <a:r>
              <a:rPr lang="pt-BR" sz="1300" dirty="0" err="1"/>
              <a:t>IntServ</a:t>
            </a:r>
            <a:r>
              <a:rPr lang="pt-BR" sz="1300" dirty="0"/>
              <a:t> depende do protocolo RSVP para reservar recursos. Se algum roteador no caminho não suportar esse protocolo, a reserva falha.</a:t>
            </a:r>
          </a:p>
          <a:p>
            <a:pPr lvl="1"/>
            <a:r>
              <a:rPr lang="pt-BR" sz="1300" b="1" dirty="0"/>
              <a:t>Custo Elevado</a:t>
            </a:r>
            <a:br>
              <a:rPr lang="pt-BR" sz="1300" dirty="0"/>
            </a:br>
            <a:r>
              <a:rPr lang="pt-BR" sz="1300" dirty="0"/>
              <a:t>Devido à necessidade de hardware robusto e configuração específica, os custos para implementar o </a:t>
            </a:r>
            <a:r>
              <a:rPr lang="pt-BR" sz="1300" dirty="0" err="1"/>
              <a:t>IntServ</a:t>
            </a:r>
            <a:r>
              <a:rPr lang="pt-BR" sz="1300" dirty="0"/>
              <a:t> são altos.</a:t>
            </a:r>
          </a:p>
        </p:txBody>
      </p:sp>
    </p:spTree>
    <p:extLst>
      <p:ext uri="{BB962C8B-B14F-4D97-AF65-F5344CB8AC3E}">
        <p14:creationId xmlns:p14="http://schemas.microsoft.com/office/powerpoint/2010/main" val="165272968"/>
      </p:ext>
    </p:extLst>
  </p:cSld>
  <p:clrMapOvr>
    <a:masterClrMapping/>
  </p:clrMapOvr>
  <p:transition spd="med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A079-0845-4835-8EBB-C8650B15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FC92B0-A9D3-4053-B3CA-ECFB3789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1" y="1988840"/>
            <a:ext cx="7773339" cy="4250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/>
              <a:t>O </a:t>
            </a:r>
            <a:r>
              <a:rPr lang="pt-BR" sz="1600" dirty="0" err="1"/>
              <a:t>IntServ</a:t>
            </a:r>
            <a:r>
              <a:rPr lang="pt-BR" sz="1600" dirty="0"/>
              <a:t> é como um serviço de luxo na internet: oferece tratamento VIP para os dados que precisam de mais atenção, garantindo qualidade e desempenho. Porém, por ser caro e difícil de manter em grandes redes, ele não é a solução ideal para todos os casos. </a:t>
            </a:r>
          </a:p>
          <a:p>
            <a:pPr marL="0" indent="0">
              <a:buNone/>
            </a:pPr>
            <a:r>
              <a:rPr lang="pt-BR" sz="1600" dirty="0"/>
              <a:t>Em resumo, o </a:t>
            </a:r>
            <a:r>
              <a:rPr lang="pt-BR" sz="1600" dirty="0" err="1"/>
              <a:t>IntServ</a:t>
            </a:r>
            <a:r>
              <a:rPr lang="pt-BR" sz="1600" dirty="0"/>
              <a:t> é ótimo quando você precisa de qualidade garantida em situações específicas, mas não funciona bem para o uso geral da internet com milhões de usuários ao mesmo tempo.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6102559"/>
      </p:ext>
    </p:extLst>
  </p:cSld>
  <p:clrMapOvr>
    <a:masterClrMapping/>
  </p:clrMapOvr>
  <p:transition spd="med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B4BF6-1909-4195-B496-ADC86D83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A05A84-4D49-4555-96BC-30EDCA60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Referências:</a:t>
            </a:r>
          </a:p>
          <a:p>
            <a:r>
              <a:rPr lang="pt-BR" b="1" dirty="0"/>
              <a:t> </a:t>
            </a:r>
            <a:r>
              <a:rPr lang="pt-BR" u="sng" dirty="0">
                <a:hlinkClick r:id="rId2"/>
              </a:rPr>
              <a:t>https://www.youtube.com/watch?v=oQymzUae0dA</a:t>
            </a:r>
            <a:endParaRPr lang="pt-BR" u="sng" dirty="0"/>
          </a:p>
          <a:p>
            <a:r>
              <a:rPr lang="pt-BR" u="sng" dirty="0">
                <a:hlinkClick r:id="rId3"/>
              </a:rPr>
              <a:t>https://www.teleco.com.br/tutoriais/tutorialqosotm/pagina_3.asp</a:t>
            </a:r>
            <a:r>
              <a:rPr lang="pt-BR" dirty="0"/>
              <a:t> </a:t>
            </a:r>
          </a:p>
          <a:p>
            <a:r>
              <a:rPr lang="pt-BR" u="sng" dirty="0">
                <a:hlinkClick r:id="rId4"/>
              </a:rPr>
              <a:t>https://www.fortinet.com/br/resources/cyberglossary/qos-quality-of-service</a:t>
            </a:r>
            <a:r>
              <a:rPr lang="pt-BR" dirty="0"/>
              <a:t> </a:t>
            </a:r>
          </a:p>
          <a:p>
            <a:r>
              <a:rPr lang="pt-BR" u="sng" dirty="0">
                <a:hlinkClick r:id="rId5"/>
              </a:rPr>
              <a:t>https://www.maxwell.vrac.puc-rio.br/5751/5751_5.PDF</a:t>
            </a:r>
            <a:endParaRPr lang="pt-BR" dirty="0"/>
          </a:p>
          <a:p>
            <a:r>
              <a:rPr lang="pt-BR" u="sng" dirty="0">
                <a:hlinkClick r:id="rId6"/>
              </a:rPr>
              <a:t>https://www.youtube.com/watch?v=DsUZzmOjC6c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3966501"/>
      </p:ext>
    </p:extLst>
  </p:cSld>
  <p:clrMapOvr>
    <a:masterClrMapping/>
  </p:clrMapOvr>
  <p:transition spd="med">
    <p:dissolve/>
  </p:transition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Gotícula</Template>
  <TotalTime>1755</TotalTime>
  <Words>632</Words>
  <Application>Microsoft Office PowerPoint</Application>
  <PresentationFormat>Apresentação na tela (4:3)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Tahoma</vt:lpstr>
      <vt:lpstr>Times New Roman</vt:lpstr>
      <vt:lpstr>Tw Cen MT</vt:lpstr>
      <vt:lpstr>Wingdings</vt:lpstr>
      <vt:lpstr>Gotícula</vt:lpstr>
      <vt:lpstr>Apresentação do PowerPoint</vt:lpstr>
      <vt:lpstr>DEFINIÇÃO E FUNCIONAMENTO</vt:lpstr>
      <vt:lpstr>PROTOCOLOS associados</vt:lpstr>
      <vt:lpstr>PROTOCOLOS </vt:lpstr>
      <vt:lpstr>PROTOCOLOS </vt:lpstr>
      <vt:lpstr>QoS</vt:lpstr>
      <vt:lpstr>aplicações</vt:lpstr>
      <vt:lpstr>vantagens</vt:lpstr>
      <vt:lpstr>desvantagens</vt:lpstr>
      <vt:lpstr>conclusão</vt:lpstr>
      <vt:lpstr>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MARIO YANAGUISSAWA</dc:creator>
  <cp:lastModifiedBy>Lab02Aluno</cp:lastModifiedBy>
  <cp:revision>106</cp:revision>
  <dcterms:created xsi:type="dcterms:W3CDTF">2021-09-29T23:56:17Z</dcterms:created>
  <dcterms:modified xsi:type="dcterms:W3CDTF">2025-05-21T14:46:26Z</dcterms:modified>
</cp:coreProperties>
</file>